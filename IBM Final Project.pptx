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d18a3dd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8d18a3dd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d18a3dd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8d18a3dd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8d18a3dd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8d18a3dd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d18a3dd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8d18a3dd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8d18a3dd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8d18a3dd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8d18a3dd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8d18a3dd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8d18a3dd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8d18a3dd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d18a3dd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8d18a3dd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8d18a3dd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8d18a3dd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8d18a3dd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8d18a3dd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d18a3dd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8d18a3dd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8d18a3dd8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8d18a3dd8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8d18a3dd8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8d18a3dd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d18a3dd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8d18a3dd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8d18a3dd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8d18a3dd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Comprehensive Analysis of Customer Dataset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FINAL PROJECT – DATA SCIENCE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Eduardo </a:t>
            </a:r>
            <a:r>
              <a:rPr lang="es-419"/>
              <a:t>Bojórquez</a:t>
            </a:r>
            <a:r>
              <a:rPr lang="es-419"/>
              <a:t> Vargas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22/11/25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50" y="2868375"/>
            <a:ext cx="2071000" cy="20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1525" y="70775"/>
            <a:ext cx="2071000" cy="16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EXECUTIVE SUMMARY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81725" y="1560725"/>
            <a:ext cx="634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This project presents a complete end-to-end data science workflow applied to a dataset of 1,000 customers.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The process includes: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• Data collection and preprocessing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Exploratory Data Analysis (EDA)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SQL-based segmentation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Geospatial mapping with Folium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Interactive dashboards using Plotly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Predictive modeling with Machine Learning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Main Objective: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Understand behavioral patterns and identify the factors influencing customer classification.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Key Outcomes: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Clean, fully processed dataset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Multiple high-quality visualizations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Interactive analytical tools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• Predictive model achieving 85% accuracy</a:t>
            </a:r>
            <a:endParaRPr/>
          </a:p>
        </p:txBody>
      </p:sp>
      <p:pic>
        <p:nvPicPr>
          <p:cNvPr id="144" name="Google Shape;14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374" y="194099"/>
            <a:ext cx="2630224" cy="13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1925" y="2398100"/>
            <a:ext cx="3255199" cy="21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Project Context &amp; Goals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474275" y="1574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Organizations increasingly rely on data-driven decision-making to optimize customer management strategies.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This dataset simulates real-world customer behavior.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GOALS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Clean and validate customer data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Perform an extensive EDA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Create geospatial and interactive visualizations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Build a classification model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Identify key behavioral insights</a:t>
            </a:r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650" y="2599926"/>
            <a:ext cx="3911142" cy="19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34125" y="1526750"/>
            <a:ext cx="3899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The dataset includes: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Age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Income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City of residence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Socioeconomic category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Monthly purchases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Satisfaction score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Geographic coordinates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Target class (binary classification)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Initial Checks Performed: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Detection of missing values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Distribution checks and outlier detection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Data consistency validation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Verification of geographic coordinate ranges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Data Collection &amp; Structure</a:t>
            </a:r>
            <a:endParaRPr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600" y="1775900"/>
            <a:ext cx="4825800" cy="24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Data Cleaning &amp; Quality Assurance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419850" y="17852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Steps performed: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Replacement of missing values (median imputation)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Standardization of numeric and categorical fields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Removal or correction of inconsistent values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Ensuring all variables fall within expected ranges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Pre-processing for modeling (normalization, encoding)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Result: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A complete, cleaned dataset with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0 missing values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, ready for analysis.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575" y="1092675"/>
            <a:ext cx="3824975" cy="38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202125" y="178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The exploratory phase uncovered key trends: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Ages distributed mostly between 25–55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Income distribution wide with moderate skew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Satisfaction levels within an expected range (1–10)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Balanced distribution of customers across cities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Positive correlation between income and monthly purchases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Visual Tools Used: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Histograms, boxplots, scatter plots, correlation heatmap, bar charts.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Exploratory Data Analysis (EDA)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800" y="1065450"/>
            <a:ext cx="4320300" cy="333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215725" y="1737650"/>
            <a:ext cx="3083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Histogram of Age Distribution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Boxplot of Income by Category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City-wise Customer Count Chart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Scatterplot: Age vs Income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Correlation Heatmap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Satisfaction Level Chart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Each visualization supports understanding structural patterns within the dataset.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Key EDA Visuals</a:t>
            </a: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050" y="1512050"/>
            <a:ext cx="5160043" cy="29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13675" y="1690000"/>
            <a:ext cx="3253500" cy="3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SQL queries were used to extract demographic and behavioral insights: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Customer count by city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Average income per city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Category distribution (High, Medium, Low)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Frequent age ranges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Satisfaction by city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Income bracket segmentation: Low, Medium, High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Outcome: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Improved understanding of customer clusters and market segments.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QL Segmentation Analysis</a:t>
            </a:r>
            <a:endParaRPr/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2350" y="1596325"/>
            <a:ext cx="5472026" cy="293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2713650" y="1676400"/>
            <a:ext cx="4206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Using Folium, several map layers were generated: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100 customer geographic points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Interactive markers displaying customer attributes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Heatmap showing density concentration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Insights: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High-density clusters appear in central urban areas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Geographic patterns strongly correlate with income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Outlying regions tend to have lower satisfaction scores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Geospatial Analysis with Folium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195325" y="1594775"/>
            <a:ext cx="3382800" cy="32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Four dynamic dashboards were created: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Age Distribution Histogram</a:t>
            </a:r>
            <a:br>
              <a:rPr lang="es-419" sz="2500">
                <a:latin typeface="Arial"/>
                <a:ea typeface="Arial"/>
                <a:cs typeface="Arial"/>
                <a:sym typeface="Arial"/>
              </a:rPr>
            </a:b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Income Boxplot by City and Category</a:t>
            </a:r>
            <a:br>
              <a:rPr lang="es-419" sz="2500">
                <a:latin typeface="Arial"/>
                <a:ea typeface="Arial"/>
                <a:cs typeface="Arial"/>
                <a:sym typeface="Arial"/>
              </a:rPr>
            </a:b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Age vs Income Scatter Plot</a:t>
            </a:r>
            <a:br>
              <a:rPr lang="es-419" sz="2500">
                <a:latin typeface="Arial"/>
                <a:ea typeface="Arial"/>
                <a:cs typeface="Arial"/>
                <a:sym typeface="Arial"/>
              </a:rPr>
            </a:b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Correlation Heatmap</a:t>
            </a:r>
            <a:br>
              <a:rPr lang="es-419" sz="2500">
                <a:latin typeface="Arial"/>
                <a:ea typeface="Arial"/>
                <a:cs typeface="Arial"/>
                <a:sym typeface="Arial"/>
              </a:rPr>
            </a:b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500">
                <a:latin typeface="Arial"/>
                <a:ea typeface="Arial"/>
                <a:cs typeface="Arial"/>
                <a:sym typeface="Arial"/>
              </a:rPr>
              <a:t>Advantages: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Real-time interaction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Visual drill-down capability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-419" sz="2500">
                <a:latin typeface="Arial"/>
                <a:ea typeface="Arial"/>
                <a:cs typeface="Arial"/>
                <a:sym typeface="Arial"/>
              </a:rPr>
              <a:t>Easier interpretation for non-technical users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Interactive Dashboards (Plotly)</a:t>
            </a:r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950" y="1698375"/>
            <a:ext cx="5261073" cy="2783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195325" y="1490325"/>
            <a:ext cx="2886000" cy="32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s-419" sz="1000">
                <a:latin typeface="Arial"/>
                <a:ea typeface="Arial"/>
                <a:cs typeface="Arial"/>
                <a:sym typeface="Arial"/>
              </a:rPr>
              <a:t>Model Setup: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Random Forest Classifier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70/30 train/test split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Stratified sampling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Feature scaling and preprocessing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s-419" sz="1000">
                <a:latin typeface="Arial"/>
                <a:ea typeface="Arial"/>
                <a:cs typeface="Arial"/>
                <a:sym typeface="Arial"/>
              </a:rPr>
              <a:t>Results: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Accuracy: 85%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Recall: 87%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F1 Score: 86%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Strong generalization performance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s-419" sz="1000">
                <a:latin typeface="Arial"/>
                <a:ea typeface="Arial"/>
                <a:cs typeface="Arial"/>
                <a:sym typeface="Arial"/>
              </a:rPr>
              <a:t>Top Predictive Features: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Income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Age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Monthly Purchases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AutoNum type="arabicPeriod"/>
            </a:pPr>
            <a:r>
              <a:rPr lang="es-419" sz="1000">
                <a:latin typeface="Arial"/>
                <a:ea typeface="Arial"/>
                <a:cs typeface="Arial"/>
                <a:sym typeface="Arial"/>
              </a:rPr>
              <a:t>Satisfaction Score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Model</a:t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300" y="1630350"/>
            <a:ext cx="5757873" cy="288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195325" y="1490325"/>
            <a:ext cx="32943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High True Positive rate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Balanced detection of both classes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Low False Positive rate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Model shows stable discriminative power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Interpretation: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The model reliably distinguishes between positive and negative customer targets.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Confusion Matrix &amp; Interpretation</a:t>
            </a: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325" y="1412650"/>
            <a:ext cx="5757873" cy="288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86450" y="2021025"/>
            <a:ext cx="42942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Income is the strongest predictor of customer target class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Geographic clustering indicates potential for location-based strategies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SQL segmentation highlights demographic patterns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Younger adults show lower satisfaction variation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Higher-income customers show higher purchase frequency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Insights &amp; Interpretation</a:t>
            </a:r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600" y="1446650"/>
            <a:ext cx="4458549" cy="294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1855650" y="1294225"/>
            <a:ext cx="5432700" cy="12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Dataset is simulated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No temporal data for time-series analysis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Limited number of behavioral variables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Only one ML model was evaluated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No external datasets integrated (economic indicators, store data, etc.)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type="title"/>
          </p:nvPr>
        </p:nvSpPr>
        <p:spPr>
          <a:xfrm>
            <a:off x="3025950" y="380125"/>
            <a:ext cx="30921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Limitations &amp; Final Summary</a:t>
            </a:r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312" y="2778550"/>
            <a:ext cx="3811370" cy="192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1475700" y="1857750"/>
            <a:ext cx="61926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Add real or hybrid datasets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Test additional ML models (XGBoost, SVM, Gradient Boosting)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Implement clustering (K-Means, DBSCAN)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Develop a real-time dashboard using Power BI or Tableau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Integrate SHAP/LIME for model explainability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Expand variables (purchase history, visit frequency, product categories)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 txBox="1"/>
          <p:nvPr>
            <p:ph type="title"/>
          </p:nvPr>
        </p:nvSpPr>
        <p:spPr>
          <a:xfrm>
            <a:off x="2996400" y="461775"/>
            <a:ext cx="3151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Recommendations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1475700" y="1857750"/>
            <a:ext cx="61926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Add real or hybrid datasets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Test additional ML models (XGBoost, SVM, Gradient Boosting)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Implement clustering (K-Means, DBSCAN)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Develop a real-time dashboard using Power BI or Tableau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Integrate SHAP/LIME for model explainability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-419" sz="1200">
                <a:latin typeface="Arial"/>
                <a:ea typeface="Arial"/>
                <a:cs typeface="Arial"/>
                <a:sym typeface="Arial"/>
              </a:rPr>
              <a:t>Expand variables (purchase history, visit frequency, product categories)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 txBox="1"/>
          <p:nvPr>
            <p:ph type="title"/>
          </p:nvPr>
        </p:nvSpPr>
        <p:spPr>
          <a:xfrm>
            <a:off x="2996400" y="461775"/>
            <a:ext cx="3151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Recommendations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